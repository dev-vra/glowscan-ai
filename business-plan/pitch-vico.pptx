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4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2000" y="1620000"/>
            <a:ext cx="1008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0"/>
              </a:spcAft>
            </a:pPr>
            <a:r>
              <a:rPr sz="12000" b="1">
                <a:solidFill>
                  <a:srgbClr val="FFFFFF"/>
                </a:solidFill>
                <a:latin typeface="Calibri"/>
              </a:rPr>
              <a:t>viço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000" y="3744000"/>
            <a:ext cx="100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Descubra se o seu skincare está funcionando.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4000" y="4536000"/>
            <a:ext cx="10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BEDD6"/>
                </a:solidFill>
                <a:latin typeface="Calibri"/>
              </a:rPr>
              <a:t>Pré-seed · R$ 1,5 mi ·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Quem compra skincare não sabe se está funcionando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232000"/>
            <a:ext cx="3395999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2484000"/>
            <a:ext cx="28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3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3240000"/>
            <a:ext cx="289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um para a pele, outro para o rótulo, outro para anotar — ninguém liga os três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000" y="2232000"/>
            <a:ext cx="3395999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5999" y="2484000"/>
            <a:ext cx="28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216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5999" y="3240000"/>
            <a:ext cx="289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avaliações de 9 apps concorrentes: câmera falha, paywall sem valor, resultado inconsistente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7999" y="2232000"/>
            <a:ext cx="3395999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999" y="2484000"/>
            <a:ext cx="28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Só a marca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999" y="3240000"/>
            <a:ext cx="289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ferramentas de grandes marcas recomendam apenas o próprio portfólio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Selfie, rótulo e rotina — num ciclo que mede o resultado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232000"/>
            <a:ext cx="2520000" cy="32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6000" y="2448000"/>
            <a:ext cx="7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B8462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31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1B14"/>
                </a:solidFill>
                <a:latin typeface="Calibri"/>
              </a:rPr>
              <a:t>Lê a pele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6000" y="3708000"/>
            <a:ext cx="21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6E5C51"/>
                </a:solidFill>
                <a:latin typeface="Calibri"/>
              </a:rPr>
              <a:t>Skin Score 0–100 e 7 métricas por zona, com câmera que só dispara em boa luz.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000" y="2232000"/>
            <a:ext cx="2520000" cy="32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1999" y="2448000"/>
            <a:ext cx="7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B8462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1999" y="31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1B14"/>
                </a:solidFill>
                <a:latin typeface="Calibri"/>
              </a:rPr>
              <a:t>Lê os produtos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1999" y="3708000"/>
            <a:ext cx="21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6E5C51"/>
                </a:solidFill>
                <a:latin typeface="Calibri"/>
              </a:rPr>
              <a:t>Foto do rótulo; a IA entende cada ingrediente, inclusive de farmácia brasileira.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000" y="2232000"/>
            <a:ext cx="2520000" cy="32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8000" y="2448000"/>
            <a:ext cx="7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B8462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000" y="31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1B14"/>
                </a:solidFill>
                <a:latin typeface="Calibri"/>
              </a:rPr>
              <a:t>Monta a rotina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3708000"/>
            <a:ext cx="21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6E5C51"/>
                </a:solidFill>
                <a:latin typeface="Calibri"/>
              </a:rPr>
              <a:t>Manhã e noite na ordem certa, conflitos corrigidos em um toque.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27999" y="2232000"/>
            <a:ext cx="2520000" cy="324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448000"/>
            <a:ext cx="72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3600" b="1">
                <a:solidFill>
                  <a:srgbClr val="B8462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1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2A1B14"/>
                </a:solidFill>
                <a:latin typeface="Calibri"/>
              </a:rPr>
              <a:t>Mede a evolução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708000"/>
            <a:ext cx="21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6E5C51"/>
                </a:solidFill>
                <a:latin typeface="Calibri"/>
              </a:rPr>
              <a:t>Gráfico, antes/depois e card para compartilhar — sem mostrar o rosto.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TRAÇÃO DE PRODUTO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Construído e no ar — não é um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232000"/>
            <a:ext cx="540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A1B14"/>
                </a:solidFill>
                <a:latin typeface="Calibri"/>
              </a:rPr>
              <a:t>• Beta fechado em vico.bitrilha.com.br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A1B14"/>
                </a:solidFill>
                <a:latin typeface="Calibri"/>
              </a:rPr>
              <a:t>• App Android empacotado; iOS na sequência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A1B14"/>
                </a:solidFill>
                <a:latin typeface="Calibri"/>
              </a:rPr>
              <a:t>• IA de visão para pele e rótulos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A1B14"/>
                </a:solidFill>
                <a:latin typeface="Calibri"/>
              </a:rPr>
              <a:t>• Motor de rotina com 12 regras de conflito, testado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A1B14"/>
                </a:solidFill>
                <a:latin typeface="Calibri"/>
              </a:rPr>
              <a:t>• Pagamentos, LGPD e painel de testers prontos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0000" y="2232000"/>
            <a:ext cx="4824000" cy="3240000"/>
          </a:xfrm>
          <a:prstGeom prst="roundRect">
            <a:avLst>
              <a:gd name="adj" fmla="val 12000"/>
            </a:avLst>
          </a:prstGeom>
          <a:solidFill>
            <a:srgbClr val="B84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8000" y="2520000"/>
            <a:ext cx="43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FBEDD6"/>
                </a:solidFill>
                <a:latin typeface="Calibri"/>
              </a:rPr>
              <a:t>Próximo marco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8000" y="3024000"/>
            <a:ext cx="432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Conversão teste→pago ≥ 30% medida com os primeiros testers e lançamento público nas lojas.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3º maior mercado de beleza do mundo, e a categoria certa crescendo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232000"/>
            <a:ext cx="2475000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2484000"/>
            <a:ext cx="1970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R$ 200 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3240000"/>
            <a:ext cx="1970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beleza e cuidados pessoais no Brasil em 2025 (ABIHPEC)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000" y="2232000"/>
            <a:ext cx="2475000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5000" y="2484000"/>
            <a:ext cx="1970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R$ 12,3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35000" y="3240000"/>
            <a:ext cx="1970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dermocosméticos em 12 meses, +8,3% (IQVIA)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6000" y="2232000"/>
            <a:ext cx="2475000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8000" y="2484000"/>
            <a:ext cx="1970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US$ 1,8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000" y="3240000"/>
            <a:ext cx="1970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apps de análise de pele no mundo, 17% ao ano (FMI)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9000" y="2232000"/>
            <a:ext cx="2475000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61000" y="2484000"/>
            <a:ext cx="1970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23%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1000" y="3240000"/>
            <a:ext cx="1970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dos brasileiros já usam IA para escolher beleza (out/2026)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464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6E5C51"/>
                </a:solidFill>
                <a:latin typeface="Calibri"/>
              </a:rPr>
              <a:t>Prova de mecânica: o Cal AI aplicou foto → IA → acompanhamento a calorias e chegou a ~US$ 30 mi de ARR sem investimento externo, até ser comprado pela MyFitnessPal.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CONCORRÊNCIA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O único que fecha o ciclo — e é neutro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2160000"/>
          <a:ext cx="10764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000"/>
                <a:gridCol w="1440000"/>
                <a:gridCol w="1440000"/>
                <a:gridCol w="1440000"/>
                <a:gridCol w="1440000"/>
                <a:gridCol w="1440000"/>
              </a:tblGrid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B84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Pele</a:t>
                      </a:r>
                    </a:p>
                  </a:txBody>
                  <a:tcPr>
                    <a:solidFill>
                      <a:srgbClr val="B84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Rótulo</a:t>
                      </a:r>
                    </a:p>
                  </a:txBody>
                  <a:tcPr>
                    <a:solidFill>
                      <a:srgbClr val="B84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Rotina</a:t>
                      </a:r>
                    </a:p>
                  </a:txBody>
                  <a:tcPr>
                    <a:solidFill>
                      <a:srgbClr val="B84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Evolução</a:t>
                      </a:r>
                    </a:p>
                  </a:txBody>
                  <a:tcPr>
                    <a:solidFill>
                      <a:srgbClr val="B846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Neutro</a:t>
                      </a:r>
                    </a:p>
                  </a:txBody>
                  <a:tcPr>
                    <a:solidFill>
                      <a:srgbClr val="B8462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B8462F"/>
                          </a:solidFill>
                        </a:rPr>
                        <a:t>Viço</a:t>
                      </a:r>
                    </a:p>
                  </a:txBody>
                  <a:tcPr>
                    <a:solidFill>
                      <a:srgbClr val="F9E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B8462F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9E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B8462F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9E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B8462F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9E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B8462F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9E6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B8462F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9E6DE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1B14"/>
                          </a:solidFill>
                        </a:rPr>
                        <a:t>Skan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1B14"/>
                          </a:solidFill>
                        </a:rPr>
                        <a:t>Yuka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1B14"/>
                          </a:solidFill>
                        </a:rPr>
                        <a:t>FeelinMySkin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A1B14"/>
                          </a:solidFill>
                        </a:rPr>
                        <a:t>Marcas (Natura, Mary Kay)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>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A1B14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MODELO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Assinatura no B2C, dados e parcerias no B2B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232000"/>
            <a:ext cx="5220000" cy="34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7999" y="2448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B8462F"/>
                </a:solidFill>
                <a:latin typeface="Calibri"/>
              </a:rPr>
              <a:t>B2C — assinatura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999" y="2988000"/>
            <a:ext cx="468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2A1B14"/>
                </a:solidFill>
                <a:latin typeface="Calibri"/>
              </a:rPr>
              <a:t>R$ 24,90/mês ou R$ 199/ano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2A1B14"/>
                </a:solidFill>
                <a:latin typeface="Calibri"/>
              </a:rPr>
              <a:t>7 dias grátis, cancelamento em um toque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2A1B14"/>
                </a:solidFill>
                <a:latin typeface="Calibri"/>
              </a:rPr>
              <a:t>LTV de contribuição ~R$ 205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2A1B14"/>
                </a:solidFill>
                <a:latin typeface="Calibri"/>
              </a:rPr>
              <a:t>CAC misto ano 1 ~R$ 60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999" y="2232000"/>
            <a:ext cx="5220000" cy="34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2000" y="2448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B8462F"/>
                </a:solidFill>
                <a:latin typeface="Calibri"/>
              </a:rPr>
              <a:t>B2B — a partir do ano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2000" y="2988000"/>
            <a:ext cx="468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</a:pPr>
            <a:r>
              <a:rPr sz="1700" b="0">
                <a:solidFill>
                  <a:srgbClr val="2A1B14"/>
                </a:solidFill>
                <a:latin typeface="Calibri"/>
              </a:rPr>
              <a:t>Afiliados de recompra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2A1B14"/>
                </a:solidFill>
                <a:latin typeface="Calibri"/>
              </a:rPr>
              <a:t>Estudos de eficácia patrocinados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2A1B14"/>
                </a:solidFill>
                <a:latin typeface="Calibri"/>
              </a:rPr>
              <a:t>Painel de tendências anonimizado</a:t>
            </a:r>
          </a:p>
          <a:p>
            <a:pPr algn="l">
              <a:spcAft>
                <a:spcPts val="850"/>
              </a:spcAft>
            </a:pPr>
            <a:r>
              <a:rPr sz="1700" b="0">
                <a:solidFill>
                  <a:srgbClr val="2A1B14"/>
                </a:solidFill>
                <a:latin typeface="Calibri"/>
              </a:rPr>
              <a:t>White-label para redes de farmácia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Conteúdo que se espalha sozinho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232000"/>
            <a:ext cx="3395999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2000" y="2484000"/>
            <a:ext cx="28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TikTok/Reels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3240000"/>
            <a:ext cx="289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card "minha pele em 30 dias" e antes/depois — o produto gera o conteúdo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4000" y="2232000"/>
            <a:ext cx="3395999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5999" y="2484000"/>
            <a:ext cx="28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Micro-influência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5999" y="3240000"/>
            <a:ext cx="289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criadoras de skincare de 5–20 mil seguidores, por permuta e afiliado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7999" y="2232000"/>
            <a:ext cx="3395999" cy="1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999" y="2484000"/>
            <a:ext cx="2891999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B8462F"/>
                </a:solidFill>
                <a:latin typeface="Calibri"/>
              </a:rPr>
              <a:t>SEO de 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999" y="3240000"/>
            <a:ext cx="2891999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A1B14"/>
                </a:solidFill>
                <a:latin typeface="Calibri"/>
              </a:rPr>
              <a:t>"retinol e ácido pode junto?" — páginas geradas da base de regras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PROJEÇÕES (CENÁRIO BASE)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R$ 28,2 mi de receita e 125.828 assinantes no ano 5</a:t>
            </a:r>
          </a:p>
        </p:txBody>
      </p:sp>
      <p:pic>
        <p:nvPicPr>
          <p:cNvPr id="4" name="Picture 3" descr="rec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015999"/>
            <a:ext cx="5940000" cy="3118500"/>
          </a:xfrm>
          <a:prstGeom prst="rect">
            <a:avLst/>
          </a:prstGeom>
        </p:spPr>
      </p:pic>
      <p:pic>
        <p:nvPicPr>
          <p:cNvPr id="5" name="Picture 4" descr="caix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000" y="2015999"/>
            <a:ext cx="4752000" cy="249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0000" y="5472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6E5C51"/>
                </a:solidFill>
                <a:latin typeface="Calibri"/>
              </a:rPr>
              <a:t>Modelo mensal de 60 meses com fórmulas abertas. Teste→pago 40% (mediana Saúde &amp; Fitness, RevenueCat 2025), churn mensal 12%, renovação anual 35%.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CENÁRIOS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Plano robusto mesmo no conservador</a:t>
            </a:r>
          </a:p>
        </p:txBody>
      </p:sp>
      <p:pic>
        <p:nvPicPr>
          <p:cNvPr id="4" name="Picture 3" descr="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2088000"/>
            <a:ext cx="6120000" cy="275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232000"/>
            <a:ext cx="4320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2A1B14"/>
                </a:solidFill>
                <a:latin typeface="Calibri"/>
              </a:rPr>
              <a:t>Conservador: 69.589 assinantes, R$ 16,4 mi no ano 5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A1B14"/>
                </a:solidFill>
                <a:latin typeface="Calibri"/>
              </a:rPr>
              <a:t>Base: 125.828 assinantes, R$ 28,2 mi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A1B14"/>
                </a:solidFill>
                <a:latin typeface="Calibri"/>
              </a:rPr>
              <a:t>Otimista: 195.912 assinantes, R$ 43,0 mi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2A1B14"/>
                </a:solidFill>
                <a:latin typeface="Calibri"/>
              </a:rPr>
              <a:t>Gasto em marketing condicionado a marcos de conversão.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84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FBEDD6"/>
                </a:solidFill>
                <a:latin typeface="Calibri"/>
              </a:rPr>
              <a:t>A RODADA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864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R$ 1,5 mi pré-seed · 18 meses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2592000"/>
            <a:ext cx="2520000" cy="1655999"/>
          </a:xfrm>
          <a:prstGeom prst="roundRect">
            <a:avLst>
              <a:gd name="adj" fmla="val 12000"/>
            </a:avLst>
          </a:prstGeom>
          <a:solidFill>
            <a:srgbClr val="C9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6000" y="2772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45%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3491999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Marketing e aquisição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000" y="2592000"/>
            <a:ext cx="2520000" cy="1655999"/>
          </a:xfrm>
          <a:prstGeom prst="roundRect">
            <a:avLst>
              <a:gd name="adj" fmla="val 12000"/>
            </a:avLst>
          </a:prstGeom>
          <a:solidFill>
            <a:srgbClr val="C9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71999" y="2772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1999" y="3491999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2000" y="2592000"/>
            <a:ext cx="2520000" cy="1655999"/>
          </a:xfrm>
          <a:prstGeom prst="roundRect">
            <a:avLst>
              <a:gd name="adj" fmla="val 12000"/>
            </a:avLst>
          </a:prstGeom>
          <a:solidFill>
            <a:srgbClr val="C9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8000" y="2772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8000" y="3491999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IA, infra e apps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27999" y="2592000"/>
            <a:ext cx="2520000" cy="1655999"/>
          </a:xfrm>
          <a:prstGeom prst="roundRect">
            <a:avLst>
              <a:gd name="adj" fmla="val 12000"/>
            </a:avLst>
          </a:prstGeom>
          <a:solidFill>
            <a:srgbClr val="C95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772000"/>
            <a:ext cx="216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7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491999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Jurídico, LGPD e marca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6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Marcos: lançamento público iOS e Android · conversão ≥ 30% · ~21 mil assinantes no ano 2 · primeiro estudo patrocinado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0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50"/>
              </a:spcAft>
            </a:pPr>
            <a:r>
              <a:rPr sz="1300" b="1">
                <a:solidFill>
                  <a:srgbClr val="B8462F"/>
                </a:solidFill>
                <a:latin typeface="Calibri"/>
              </a:rPr>
              <a:t>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792000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3200" b="1">
                <a:solidFill>
                  <a:srgbClr val="2A1B14"/>
                </a:solidFill>
                <a:latin typeface="Calibri"/>
              </a:rPr>
              <a:t>[Fundadores — preencher]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340000"/>
            <a:ext cx="1080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6E5C51"/>
                </a:solidFill>
                <a:latin typeface="Calibri"/>
              </a:rPr>
              <a:t>[Nome · papel · experiência relevante]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6E5C51"/>
                </a:solidFill>
                <a:latin typeface="Calibri"/>
              </a:rPr>
              <a:t>[Nome · papel · experiência relevante]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6E5C51"/>
                </a:solidFill>
                <a:latin typeface="Calibri"/>
              </a:rPr>
              <a:t>[Por que este time vence neste mercado]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22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1">
                <a:solidFill>
                  <a:srgbClr val="B8462F"/>
                </a:solidFill>
                <a:latin typeface="Calibri"/>
              </a:rPr>
              <a:t>vico.bitrilha.com.br · [e-mail de contato]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637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B8462F"/>
                </a:solidFill>
                <a:latin typeface="Calibri"/>
              </a:rPr>
              <a:t>viço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60000" y="6372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550"/>
              </a:spcAft>
            </a:pPr>
            <a:r>
              <a:rPr sz="1100" b="0">
                <a:solidFill>
                  <a:srgbClr val="6E5C51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